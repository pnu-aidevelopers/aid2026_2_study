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39" y="9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0AE11-B951-4E7D-9AF2-D629D76F7E62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E2218-7693-449E-9FC1-A5637B664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6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E2218-7693-449E-9FC1-A5637B664C1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594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1417320"/>
            <a:ext cx="996696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500" b="1">
                <a:solidFill>
                  <a:srgbClr val="F5F5F5"/>
                </a:solidFill>
                <a:latin typeface="Noto Sans CJK KR"/>
              </a:defRPr>
            </a:pPr>
            <a:r>
              <a:rPr sz="4400" dirty="0"/>
              <a:t>Denoising Diffusion</a:t>
            </a:r>
            <a:br>
              <a:rPr sz="4400" dirty="0"/>
            </a:br>
            <a:r>
              <a:rPr sz="4400" dirty="0"/>
              <a:t>Probabilistic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3063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4B4B4"/>
                </a:solidFill>
                <a:latin typeface="Noto Sans CJK KR"/>
              </a:defRPr>
            </a:pPr>
            <a:r>
              <a:rPr dirty="0"/>
              <a:t>Jonathan Ho · Ajay Jain · Pieter </a:t>
            </a:r>
            <a:r>
              <a:rPr dirty="0" err="1"/>
              <a:t>Abbeel</a:t>
            </a:r>
            <a:r>
              <a:rPr dirty="0"/>
              <a:t>  |  </a:t>
            </a:r>
            <a:r>
              <a:rPr dirty="0" err="1"/>
              <a:t>NeurIPS</a:t>
            </a:r>
            <a:r>
              <a:rPr dirty="0"/>
              <a:t>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257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202455424 </a:t>
            </a:r>
            <a:r>
              <a:rPr dirty="0" err="1"/>
              <a:t>박현아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491472" y="528523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5F5F5F"/>
                </a:solidFill>
                <a:latin typeface="Noto Sans CJK KR"/>
              </a:defRPr>
            </a:pPr>
            <a:r>
              <a:t>Paper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4208" y="1490472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rPr lang="en-US" dirty="0"/>
              <a:t>Abstract &amp; </a:t>
            </a:r>
            <a:r>
              <a:rPr dirty="0"/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21991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203703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Diffusion Probabilistic Model</a:t>
            </a:r>
            <a:r>
              <a:rPr lang="en-US" dirty="0"/>
              <a:t> &amp; Background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60120" y="2935224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916936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Forward Process</a:t>
            </a:r>
            <a:r>
              <a:rPr lang="en-US" dirty="0"/>
              <a:t> &amp; </a:t>
            </a:r>
            <a:r>
              <a:rPr lang="en-US" altLang="ko-KR" dirty="0"/>
              <a:t>Reverse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4845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630168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rPr lang="en-US" dirty="0"/>
              <a:t>Training Objective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60120" y="4361688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4306263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rPr lang="en-US" dirty="0"/>
              <a:t>Training &amp; Sampling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960120" y="5074920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505663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t>Model &amp; Experiments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CEEC26-2A6F-FF24-998E-58DE64206DC4}"/>
              </a:ext>
            </a:extLst>
          </p:cNvPr>
          <p:cNvSpPr txBox="1"/>
          <p:nvPr/>
        </p:nvSpPr>
        <p:spPr>
          <a:xfrm>
            <a:off x="960120" y="5702590"/>
            <a:ext cx="5943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rPr dirty="0"/>
              <a:t>0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7E2838-698E-2C50-AE04-30A96B7136A5}"/>
              </a:ext>
            </a:extLst>
          </p:cNvPr>
          <p:cNvSpPr txBox="1"/>
          <p:nvPr/>
        </p:nvSpPr>
        <p:spPr>
          <a:xfrm>
            <a:off x="1664208" y="5665266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rPr lang="en-US" dirty="0"/>
              <a:t>Conclusion &amp; Summary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Abstract &amp;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42416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Diffusion probabilistic models</a:t>
            </a:r>
            <a:r>
              <a:rPr lang="ko-KR" altLang="en-US" dirty="0"/>
              <a:t>은 </a:t>
            </a:r>
            <a:r>
              <a:rPr lang="en-US" altLang="ko-KR" dirty="0"/>
              <a:t>nonequilibrium thermodynamics</a:t>
            </a:r>
            <a:r>
              <a:rPr lang="ko-KR" altLang="en-US" dirty="0"/>
              <a:t>에서 영감을 받은 </a:t>
            </a:r>
            <a:r>
              <a:rPr dirty="0"/>
              <a:t>latent variable models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dirty="0"/>
          </a:p>
          <a:p>
            <a:pPr>
              <a:spcAft>
                <a:spcPts val="17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ko-KR" altLang="en-US" dirty="0"/>
              <a:t>모델은 </a:t>
            </a:r>
            <a:r>
              <a:rPr lang="en-US" dirty="0"/>
              <a:t>Gaussian noise</a:t>
            </a:r>
            <a:r>
              <a:rPr lang="ko-KR" altLang="en-US" dirty="0"/>
              <a:t>를 점진적으로 추가하는 </a:t>
            </a:r>
            <a:r>
              <a:rPr lang="en-US" dirty="0"/>
              <a:t>forward diffusion process</a:t>
            </a:r>
            <a:r>
              <a:rPr lang="ko-KR" altLang="en-US" dirty="0"/>
              <a:t>와 이를 제거하는 </a:t>
            </a:r>
            <a:r>
              <a:rPr lang="en-US" dirty="0"/>
              <a:t>reverse process </a:t>
            </a:r>
            <a:r>
              <a:rPr lang="ko-KR" altLang="en-US" dirty="0"/>
              <a:t>으로 구성된다</a:t>
            </a:r>
            <a:r>
              <a:rPr lang="en-US" altLang="ko-KR" dirty="0"/>
              <a:t>. </a:t>
            </a:r>
          </a:p>
          <a:p>
            <a:pPr>
              <a:spcAft>
                <a:spcPts val="17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</a:t>
            </a:r>
            <a:r>
              <a:rPr lang="ko-KR" altLang="ko-KR" sz="2000" dirty="0">
                <a:solidFill>
                  <a:srgbClr val="F5F5F5"/>
                </a:solidFill>
                <a:latin typeface="Noto Sans CJK KR"/>
              </a:rPr>
              <a:t> </a:t>
            </a:r>
            <a:r>
              <a:rPr lang="ko-KR" altLang="ko-KR" sz="2000" dirty="0" err="1">
                <a:solidFill>
                  <a:srgbClr val="F5F5F5"/>
                </a:solidFill>
                <a:latin typeface="Noto Sans CJK KR"/>
              </a:rPr>
              <a:t>DDPM은</a:t>
            </a:r>
            <a:r>
              <a:rPr lang="en-US" altLang="ko-KR" sz="2000" dirty="0">
                <a:solidFill>
                  <a:srgbClr val="F5F5F5"/>
                </a:solidFill>
                <a:latin typeface="Noto Sans CJK KR"/>
              </a:rPr>
              <a:t> </a:t>
            </a:r>
            <a:r>
              <a:rPr lang="ko-KR" altLang="en-US" sz="2000" dirty="0">
                <a:solidFill>
                  <a:srgbClr val="F5F5F5"/>
                </a:solidFill>
                <a:latin typeface="Noto Sans CJK KR"/>
              </a:rPr>
              <a:t>각 단계에서 </a:t>
            </a:r>
            <a:r>
              <a:rPr lang="en-US" altLang="ko-KR" sz="2000" dirty="0">
                <a:solidFill>
                  <a:srgbClr val="F5F5F5"/>
                </a:solidFill>
                <a:latin typeface="Noto Sans CJK KR"/>
              </a:rPr>
              <a:t>denoising score matching</a:t>
            </a:r>
            <a:r>
              <a:rPr lang="ko-KR" altLang="en-US" sz="2000" dirty="0">
                <a:solidFill>
                  <a:srgbClr val="F5F5F5"/>
                </a:solidFill>
                <a:latin typeface="Noto Sans CJK KR"/>
              </a:rPr>
              <a:t>를 사용하여 추가되는 노이즈를 예측하며 신경망을 학습시킨다</a:t>
            </a:r>
            <a:r>
              <a:rPr lang="en-US" altLang="ko-KR" sz="2000" dirty="0">
                <a:solidFill>
                  <a:srgbClr val="F5F5F5"/>
                </a:solidFill>
                <a:latin typeface="Noto Sans CJK KR"/>
              </a:rPr>
              <a:t>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437083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4B4B4"/>
                </a:solidFill>
                <a:latin typeface="Noto Sans CJK KR"/>
              </a:defRPr>
            </a:pPr>
            <a:r>
              <a:rPr lang="ko-KR" altLang="en-US" dirty="0"/>
              <a:t>핵심 아이디어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68680" y="4800600"/>
            <a:ext cx="10149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q(x₁:T | x₀)  : </a:t>
            </a:r>
            <a:r>
              <a:rPr lang="en-US" dirty="0"/>
              <a:t>fixed</a:t>
            </a:r>
            <a:r>
              <a:rPr dirty="0"/>
              <a:t> forward process   </a:t>
            </a:r>
            <a:r>
              <a:rPr lang="en-US" dirty="0"/>
              <a:t>-&gt;</a:t>
            </a:r>
            <a:r>
              <a:rPr dirty="0"/>
              <a:t>    </a:t>
            </a:r>
            <a:r>
              <a:rPr dirty="0" err="1"/>
              <a:t>pθ</a:t>
            </a:r>
            <a:r>
              <a:rPr dirty="0"/>
              <a:t>(x₀:T)  : </a:t>
            </a:r>
            <a:r>
              <a:rPr lang="en-US" altLang="ko-KR" dirty="0"/>
              <a:t>learned</a:t>
            </a:r>
            <a:r>
              <a:rPr dirty="0"/>
              <a:t> reverse process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2FB01-FFF4-42B5-989D-DD8A2D1F070A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Diffusion Probabilistic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5156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0">
                <a:solidFill>
                  <a:srgbClr val="F5F5F5"/>
                </a:solidFill>
                <a:latin typeface="Noto Sans CJK KR"/>
              </a:defRPr>
            </a:pPr>
            <a:r>
              <a:rPr lang="ko-KR" altLang="en-US" dirty="0"/>
              <a:t>생성모델은</a:t>
            </a:r>
            <a:r>
              <a:rPr lang="en-US" altLang="ko-KR" dirty="0"/>
              <a:t> diffusion process</a:t>
            </a:r>
            <a:r>
              <a:rPr lang="ko-KR" altLang="en-US" dirty="0"/>
              <a:t>를 역행하도록 학습된 매개변수 </a:t>
            </a:r>
            <a:r>
              <a:rPr lang="ko-KR" altLang="ko-KR" sz="2000" dirty="0" err="1">
                <a:solidFill>
                  <a:srgbClr val="F5F5F5"/>
                </a:solidFill>
                <a:latin typeface="Noto Sans CJK KR"/>
              </a:rPr>
              <a:t>Markov</a:t>
            </a:r>
            <a:r>
              <a:rPr lang="ko-KR" altLang="ko-KR" sz="2000" dirty="0">
                <a:solidFill>
                  <a:srgbClr val="F5F5F5"/>
                </a:solidFill>
                <a:latin typeface="Noto Sans CJK KR"/>
              </a:rPr>
              <a:t> </a:t>
            </a:r>
            <a:r>
              <a:rPr lang="ko-KR" altLang="ko-KR" sz="2000" dirty="0" err="1">
                <a:solidFill>
                  <a:srgbClr val="F5F5F5"/>
                </a:solidFill>
                <a:latin typeface="Noto Sans CJK KR"/>
              </a:rPr>
              <a:t>chain</a:t>
            </a:r>
            <a:r>
              <a:rPr lang="ko-KR" altLang="en-US" sz="2000" dirty="0" err="1">
                <a:solidFill>
                  <a:srgbClr val="F5F5F5"/>
                </a:solidFill>
                <a:latin typeface="Noto Sans CJK KR"/>
              </a:rPr>
              <a:t>이다</a:t>
            </a:r>
            <a:r>
              <a:rPr lang="en-US" altLang="ko-KR" sz="2000" dirty="0">
                <a:solidFill>
                  <a:srgbClr val="F5F5F5"/>
                </a:solidFill>
                <a:latin typeface="Noto Sans CJK KR"/>
              </a:rPr>
              <a:t>!</a:t>
            </a:r>
            <a:r>
              <a:rPr lang="en-US" altLang="ko-KR" dirty="0"/>
              <a:t>!</a:t>
            </a:r>
            <a:endParaRPr dirty="0"/>
          </a:p>
        </p:txBody>
      </p:sp>
      <p:pic>
        <p:nvPicPr>
          <p:cNvPr id="6" name="Picture 5" descr="s3_img2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85241"/>
            <a:ext cx="10241280" cy="2358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4736592"/>
            <a:ext cx="143220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  <a:latin typeface="Noto Sans CJK KR"/>
              </a:defRPr>
            </a:pPr>
            <a:r>
              <a:rPr dirty="0"/>
              <a:t>Forward</a:t>
            </a:r>
            <a:r>
              <a:rPr lang="en-US" dirty="0"/>
              <a:t> </a:t>
            </a:r>
            <a:r>
              <a:rPr lang="en-US" dirty="0" err="1"/>
              <a:t>procee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727961" y="468172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x₀ → x₁ → ··· → </a:t>
            </a:r>
            <a:r>
              <a:rPr dirty="0" err="1"/>
              <a:t>xT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00799" y="4736592"/>
            <a:ext cx="143220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  <a:latin typeface="Noto Sans CJK KR"/>
              </a:defRPr>
            </a:pPr>
            <a:r>
              <a:rPr dirty="0"/>
              <a:t>Reverse</a:t>
            </a:r>
            <a:r>
              <a:rPr lang="en-US" dirty="0"/>
              <a:t> process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138160" y="468172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F5F5F5"/>
                </a:solidFill>
                <a:latin typeface="Noto Sans CJK KR"/>
              </a:defRPr>
            </a:pPr>
            <a:r>
              <a:rPr dirty="0" err="1"/>
              <a:t>xT</a:t>
            </a:r>
            <a:r>
              <a:rPr dirty="0"/>
              <a:t> → ··· → x₁ → x₀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773ED6-926E-90CE-1E8D-0408B4E7B4C6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4B4B4"/>
                </a:solidFill>
                <a:latin typeface="Noto Sans CJK KR"/>
              </a:defRPr>
            </a:pPr>
            <a:r>
              <a:t>Reverse process</a:t>
            </a:r>
          </a:p>
        </p:txBody>
      </p:sp>
      <p:pic>
        <p:nvPicPr>
          <p:cNvPr id="6" name="Picture 5" descr="s4_img2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52" y="1810512"/>
            <a:ext cx="10359614" cy="987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3063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4B4B4"/>
                </a:solidFill>
                <a:latin typeface="Noto Sans CJK KR"/>
              </a:defRPr>
            </a:pPr>
            <a:r>
              <a:t>Forward process</a:t>
            </a:r>
          </a:p>
        </p:txBody>
      </p:sp>
      <p:pic>
        <p:nvPicPr>
          <p:cNvPr id="8" name="Picture 7" descr="s4_img3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26" y="3474720"/>
            <a:ext cx="10297668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230368"/>
            <a:ext cx="103327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βt ∈ (0,1)</a:t>
            </a:r>
            <a:r>
              <a:rPr lang="ko-KR" altLang="en-US" dirty="0"/>
              <a:t>는 시간 </a:t>
            </a:r>
            <a:r>
              <a:rPr lang="en-US" altLang="ko-KR" dirty="0"/>
              <a:t>t</a:t>
            </a:r>
            <a:r>
              <a:rPr lang="ko-KR" altLang="en-US" dirty="0"/>
              <a:t>에서 추가되는 </a:t>
            </a:r>
            <a:r>
              <a:rPr lang="en-US" altLang="ko-KR" dirty="0"/>
              <a:t>Gaussian noise</a:t>
            </a:r>
            <a:r>
              <a:rPr lang="ko-KR" altLang="en-US" dirty="0"/>
              <a:t>의 크기를 조절한다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BC7340-8358-3E44-036A-1867D1FD5D71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Forward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1037844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forward process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q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는 고정되어 있으며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, x₀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에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Gaussian noise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점진적으로 추가한다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914400" y="1993392"/>
            <a:ext cx="10287000" cy="71323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48256"/>
            <a:ext cx="1006754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>
                <a:solidFill>
                  <a:srgbClr val="000000"/>
                </a:solidFill>
                <a:latin typeface="Cambria Math"/>
              </a:defRPr>
            </a:pPr>
            <a:r>
              <a:t>q(xₜ | xₜ₋₁) = 𝒩(xₜ ; √(1−βₜ) xₜ₋₁, βₜ 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54096"/>
            <a:ext cx="1037844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αₜ = 1 − βₜ and  ᾱₜ = ∏ˢ₌₁ᵗ αₛ</a:t>
            </a:r>
            <a:r>
              <a:rPr lang="ko-KR" altLang="en-US" dirty="0"/>
              <a:t>로 정의하면</a:t>
            </a:r>
            <a:r>
              <a:rPr lang="en-US" altLang="ko-KR" dirty="0"/>
              <a:t>, xₜ</a:t>
            </a:r>
            <a:r>
              <a:rPr lang="ko-KR" altLang="en-US" dirty="0"/>
              <a:t>는 </a:t>
            </a:r>
            <a:r>
              <a:rPr lang="en-US" altLang="ko-KR" dirty="0"/>
              <a:t>x₀</a:t>
            </a:r>
            <a:r>
              <a:rPr lang="ko-KR" altLang="en-US" dirty="0"/>
              <a:t>에서 직접 </a:t>
            </a:r>
            <a:r>
              <a:rPr lang="ko-KR" altLang="en-US" dirty="0" err="1"/>
              <a:t>샘플링할</a:t>
            </a:r>
            <a:r>
              <a:rPr lang="ko-KR" altLang="en-US" dirty="0"/>
              <a:t> 수 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914400" y="3822191"/>
            <a:ext cx="10287000" cy="65836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877055"/>
            <a:ext cx="100675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000000"/>
                </a:solidFill>
                <a:latin typeface="Cambria Math"/>
              </a:defRPr>
            </a:pPr>
            <a:r>
              <a:rPr dirty="0"/>
              <a:t>q(xₜ | x₀) = 𝒩(xₜ ; √ᾱₜ x₀, (1−ᾱₜ)I)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736592"/>
            <a:ext cx="10287000" cy="65836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791455"/>
            <a:ext cx="100675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000000"/>
                </a:solidFill>
                <a:latin typeface="Cambria Math"/>
              </a:defRPr>
            </a:pPr>
            <a:r>
              <a:rPr dirty="0"/>
              <a:t>xₜ = √ᾱₜ x₀ + √(1−ᾱₜ) ε,      ε ~ 𝒩(0,I)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B21657-DB99-E8AC-0DCE-1684195A2964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80CCF-2C06-B57F-5143-52990331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C2D318B-7F0E-C7C0-2439-3545F2F69075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19B54B-A362-8902-26C2-613C859EF556}"/>
              </a:ext>
            </a:extLst>
          </p:cNvPr>
          <p:cNvSpPr txBox="1"/>
          <p:nvPr/>
        </p:nvSpPr>
        <p:spPr>
          <a:xfrm>
            <a:off x="713232" y="438912"/>
            <a:ext cx="32880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3200" b="1" dirty="0">
                <a:solidFill>
                  <a:srgbClr val="F5F5F5"/>
                </a:solidFill>
                <a:latin typeface="Noto Sans CJK KR"/>
              </a:rPr>
              <a:t>Training Objective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5F0E5C-06DA-2376-1C42-E80E6D20D978}"/>
              </a:ext>
            </a:extLst>
          </p:cNvPr>
          <p:cNvSpPr txBox="1"/>
          <p:nvPr/>
        </p:nvSpPr>
        <p:spPr>
          <a:xfrm>
            <a:off x="11064240" y="484632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A0A0A0"/>
                </a:solidFill>
                <a:latin typeface="Noto Sans CJK KR"/>
              </a:rPr>
              <a:t>0</a:t>
            </a:r>
            <a:r>
              <a:rPr lang="en-US" sz="1200" dirty="0">
                <a:solidFill>
                  <a:srgbClr val="A0A0A0"/>
                </a:solidFill>
                <a:latin typeface="Noto Sans CJK KR"/>
              </a:rPr>
              <a:t>7</a:t>
            </a:r>
            <a:endParaRPr sz="1200" dirty="0">
              <a:solidFill>
                <a:srgbClr val="A0A0A0"/>
              </a:solidFill>
              <a:latin typeface="Noto Sans CJK KR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CED08A07-6084-F753-8B28-1D62C8AA9D7C}"/>
              </a:ext>
            </a:extLst>
          </p:cNvPr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0A08A6AD-487F-CDB3-5455-DA0CCBC370D2}"/>
              </a:ext>
            </a:extLst>
          </p:cNvPr>
          <p:cNvSpPr/>
          <p:nvPr/>
        </p:nvSpPr>
        <p:spPr>
          <a:xfrm>
            <a:off x="914400" y="1874519"/>
            <a:ext cx="9875520" cy="54864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2400">
                <a:solidFill>
                  <a:srgbClr val="0A0A0A"/>
                </a:solidFill>
                <a:latin typeface="Cambria Math"/>
              </a:rPr>
              <a:t>E[−log pθ(x₀)] ≤ L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428BE222-9E46-3B34-45C9-1F1634AB9EEC}"/>
              </a:ext>
            </a:extLst>
          </p:cNvPr>
          <p:cNvSpPr/>
          <p:nvPr/>
        </p:nvSpPr>
        <p:spPr>
          <a:xfrm>
            <a:off x="914400" y="2606040"/>
            <a:ext cx="9875520" cy="54864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2300">
                <a:solidFill>
                  <a:srgbClr val="0A0A0A"/>
                </a:solidFill>
                <a:latin typeface="Cambria Math"/>
              </a:rPr>
              <a:t>L = E_q [ −log  pθ(x₀:T) / q(x₁:T | x₀) ]</a:t>
            </a: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57C77199-F607-777E-0BE4-03F8ADB0837B}"/>
              </a:ext>
            </a:extLst>
          </p:cNvPr>
          <p:cNvSpPr/>
          <p:nvPr/>
        </p:nvSpPr>
        <p:spPr>
          <a:xfrm>
            <a:off x="914400" y="3785615"/>
            <a:ext cx="9875520" cy="54864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2400" dirty="0">
                <a:solidFill>
                  <a:srgbClr val="0A0A0A"/>
                </a:solidFill>
                <a:latin typeface="Cambria Math"/>
              </a:rPr>
              <a:t>L = L_T + Σ_{t&gt;1} L_{t−1} + L₀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7E524C-64AC-D9C7-58FA-9357EF96B54F}"/>
              </a:ext>
            </a:extLst>
          </p:cNvPr>
          <p:cNvSpPr txBox="1"/>
          <p:nvPr/>
        </p:nvSpPr>
        <p:spPr>
          <a:xfrm>
            <a:off x="868680" y="1353312"/>
            <a:ext cx="103784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DDPM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은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negative log-likelihood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의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variational bound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를 최소화하도록 학습한다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C5E767-3CA3-AD83-A361-9F23A6821E00}"/>
              </a:ext>
            </a:extLst>
          </p:cNvPr>
          <p:cNvSpPr txBox="1"/>
          <p:nvPr/>
        </p:nvSpPr>
        <p:spPr>
          <a:xfrm>
            <a:off x="906780" y="3326134"/>
            <a:ext cx="103784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Noto Sans CJK KR"/>
              </a:rPr>
              <a:t>이를 </a:t>
            </a:r>
            <a:r>
              <a:rPr lang="en-US" altLang="ko-KR" dirty="0">
                <a:solidFill>
                  <a:schemeClr val="bg1"/>
                </a:solidFill>
                <a:latin typeface="Noto Sans CJK KR"/>
              </a:rPr>
              <a:t>timestep</a:t>
            </a:r>
            <a:r>
              <a:rPr lang="ko-KR" altLang="en-US" dirty="0">
                <a:solidFill>
                  <a:schemeClr val="bg1"/>
                </a:solidFill>
                <a:latin typeface="Noto Sans CJK KR"/>
              </a:rPr>
              <a:t>별 항으로 분해하면 다음과 같다</a:t>
            </a:r>
            <a:r>
              <a:rPr lang="en-US" altLang="ko-KR" dirty="0">
                <a:solidFill>
                  <a:schemeClr val="bg1"/>
                </a:solidFill>
                <a:latin typeface="Noto Sans CJK KR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C7A9A4-6A3F-96BC-33A3-FD5F280D2B6B}"/>
              </a:ext>
            </a:extLst>
          </p:cNvPr>
          <p:cNvSpPr txBox="1"/>
          <p:nvPr/>
        </p:nvSpPr>
        <p:spPr>
          <a:xfrm>
            <a:off x="906780" y="4583203"/>
            <a:ext cx="10149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• L_T : q(</a:t>
            </a:r>
            <a:r>
              <a:rPr lang="en-US" altLang="ko-KR" dirty="0" err="1">
                <a:solidFill>
                  <a:srgbClr val="F5F5F5"/>
                </a:solidFill>
                <a:latin typeface="Noto Sans CJK KR"/>
              </a:rPr>
              <a:t>x_T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 | x₀)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와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prior p(</a:t>
            </a:r>
            <a:r>
              <a:rPr lang="en-US" altLang="ko-KR" dirty="0" err="1">
                <a:solidFill>
                  <a:srgbClr val="F5F5F5"/>
                </a:solidFill>
                <a:latin typeface="Noto Sans CJK KR"/>
              </a:rPr>
              <a:t>x_T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) 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사이의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KL divergence</a:t>
            </a:r>
            <a:br>
              <a:rPr lang="en-US" altLang="ko-KR" dirty="0"/>
            </a:b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• L_{t−1} : q(x_{t−1}|</a:t>
            </a:r>
            <a:r>
              <a:rPr lang="en-US" altLang="ko-KR" dirty="0" err="1">
                <a:solidFill>
                  <a:srgbClr val="F5F5F5"/>
                </a:solidFill>
                <a:latin typeface="Noto Sans CJK KR"/>
              </a:rPr>
              <a:t>x_t,x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₀)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와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p</a:t>
            </a:r>
            <a:r>
              <a:rPr lang="el-GR" altLang="ko-KR" dirty="0">
                <a:solidFill>
                  <a:srgbClr val="F5F5F5"/>
                </a:solidFill>
                <a:latin typeface="Noto Sans CJK KR"/>
              </a:rPr>
              <a:t>θ(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x_{t−1}|</a:t>
            </a:r>
            <a:r>
              <a:rPr lang="en-US" altLang="ko-KR" dirty="0" err="1">
                <a:solidFill>
                  <a:srgbClr val="F5F5F5"/>
                </a:solidFill>
                <a:latin typeface="Noto Sans CJK KR"/>
              </a:rPr>
              <a:t>x_t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) 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사이의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KL divergence</a:t>
            </a:r>
            <a:br>
              <a:rPr lang="en-US" altLang="ko-KR" dirty="0"/>
            </a:b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• L₀ : x₀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의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negative log-likelihood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CB07FD-221E-8C69-7585-F90A75B86806}"/>
              </a:ext>
            </a:extLst>
          </p:cNvPr>
          <p:cNvSpPr txBox="1"/>
          <p:nvPr/>
        </p:nvSpPr>
        <p:spPr>
          <a:xfrm>
            <a:off x="914400" y="5572524"/>
            <a:ext cx="103784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따라서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reverse process 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학습은 각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timestep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에서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posterior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와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model transition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을 맞추는 문제로 정리된다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6089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Reverse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3327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F5F5F5"/>
                </a:solidFill>
                <a:latin typeface="Noto Sans CJK KR"/>
              </a:defRPr>
            </a:pP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reverse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process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는 평균과 분산이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θ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로 </a:t>
            </a:r>
            <a:r>
              <a:rPr lang="ko-KR" altLang="en-US" dirty="0" err="1">
                <a:solidFill>
                  <a:srgbClr val="FFFFFF"/>
                </a:solidFill>
                <a:latin typeface="Malgun Gothic"/>
              </a:rPr>
              <a:t>매개변수화된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Gaussian transition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으로 </a:t>
            </a:r>
            <a:r>
              <a:rPr lang="ko-KR" altLang="en-US" dirty="0" err="1">
                <a:solidFill>
                  <a:srgbClr val="FFFFFF"/>
                </a:solidFill>
                <a:latin typeface="Malgun Gothic"/>
              </a:rPr>
              <a:t>모델링된다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0241280" cy="71323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66544"/>
            <a:ext cx="100218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>
                <a:solidFill>
                  <a:srgbClr val="000000"/>
                </a:solidFill>
                <a:latin typeface="Cambria Math"/>
              </a:defRPr>
            </a:pPr>
            <a:r>
              <a:rPr dirty="0" err="1"/>
              <a:t>pθ</a:t>
            </a:r>
            <a:r>
              <a:rPr dirty="0"/>
              <a:t>(xₜ₋₁ | xₜ) = 𝒩(xₜ₋₁ ; </a:t>
            </a:r>
            <a:r>
              <a:rPr dirty="0" err="1"/>
              <a:t>μθ</a:t>
            </a:r>
            <a:r>
              <a:rPr dirty="0"/>
              <a:t>(</a:t>
            </a:r>
            <a:r>
              <a:rPr dirty="0" err="1"/>
              <a:t>xₜ,t</a:t>
            </a:r>
            <a:r>
              <a:rPr dirty="0"/>
              <a:t>), </a:t>
            </a:r>
            <a:r>
              <a:rPr dirty="0" err="1"/>
              <a:t>Σθ</a:t>
            </a:r>
            <a:r>
              <a:rPr dirty="0"/>
              <a:t>(</a:t>
            </a:r>
            <a:r>
              <a:rPr dirty="0" err="1"/>
              <a:t>xₜ,t</a:t>
            </a:r>
            <a:r>
              <a:rPr dirty="0"/>
              <a:t>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358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B4B4B4"/>
                </a:solidFill>
                <a:latin typeface="Noto Sans CJK KR"/>
              </a:defRPr>
            </a:pP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x₀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가 주어졌을 때의 순방향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posterior: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47872"/>
            <a:ext cx="10241280" cy="65836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602736"/>
            <a:ext cx="1002182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>
                <a:solidFill>
                  <a:srgbClr val="000000"/>
                </a:solidFill>
                <a:latin typeface="Cambria Math"/>
              </a:defRPr>
            </a:pPr>
            <a:r>
              <a:rPr dirty="0"/>
              <a:t>q(xₜ₋₁ | xₜ, x₀) = 𝒩(xₜ₋₁ ; μ̃ₜ(</a:t>
            </a:r>
            <a:r>
              <a:rPr dirty="0" err="1"/>
              <a:t>xₜ,x</a:t>
            </a:r>
            <a:r>
              <a:rPr dirty="0"/>
              <a:t>₀), β̃ₜ 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90288"/>
            <a:ext cx="1005840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F5F5F5"/>
                </a:solidFill>
                <a:latin typeface="Noto Sans CJK KR"/>
              </a:defRPr>
            </a:pP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학습은 실제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posterior mean μ̃ₜ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와 모델 평균 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μθ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 사이의 차이를 줄이는 방향으로 진행된다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pic>
        <p:nvPicPr>
          <p:cNvPr id="12" name="Picture 11" descr="s6_img2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650" y="5138928"/>
            <a:ext cx="5446498" cy="7680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79216B-6491-4C56-7C6A-DE29D990DA41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ε-Prediction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1042416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F5F5F5"/>
                </a:solidFill>
                <a:latin typeface="Noto Sans CJK KR"/>
              </a:defRPr>
            </a:pP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DDPM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은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noise ε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예측하는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network 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εθ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(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xₜ,t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)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이용해 역방향 과정의 평균을 </a:t>
            </a:r>
            <a:r>
              <a:rPr lang="ko-KR" altLang="en-US" dirty="0" err="1">
                <a:solidFill>
                  <a:srgbClr val="FFFFFF"/>
                </a:solidFill>
                <a:latin typeface="Malgun Gothic"/>
              </a:rPr>
              <a:t>매개변수화한다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10287000" cy="74980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20824"/>
            <a:ext cx="100675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000000"/>
                </a:solidFill>
                <a:latin typeface="Cambria Math"/>
              </a:defRPr>
            </a:pPr>
            <a:r>
              <a:rPr dirty="0" err="1"/>
              <a:t>μθ</a:t>
            </a:r>
            <a:r>
              <a:rPr dirty="0"/>
              <a:t>(</a:t>
            </a:r>
            <a:r>
              <a:rPr dirty="0" err="1"/>
              <a:t>xₜ,t</a:t>
            </a:r>
            <a:r>
              <a:rPr dirty="0"/>
              <a:t>) = 1/√αₜ · ( xₜ − βₜ/√(1−ᾱₜ) · </a:t>
            </a:r>
            <a:r>
              <a:rPr dirty="0" err="1"/>
              <a:t>εθ</a:t>
            </a:r>
            <a:r>
              <a:rPr dirty="0"/>
              <a:t>(</a:t>
            </a:r>
            <a:r>
              <a:rPr dirty="0" err="1"/>
              <a:t>xₜ,t</a:t>
            </a:r>
            <a:r>
              <a:rPr dirty="0"/>
              <a:t>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44952"/>
            <a:ext cx="1024128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B4B4B4"/>
                </a:solidFill>
                <a:latin typeface="Noto Sans CJK KR"/>
              </a:defRPr>
            </a:pP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이 매개변수화를 사용하면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loss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function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은 다음과 같이 단순화 할 수 있다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!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84448"/>
            <a:ext cx="10287000" cy="89611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639312"/>
            <a:ext cx="10067544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Cambria Math"/>
              </a:defRPr>
            </a:pPr>
            <a:r>
              <a:t>Lsimple(θ) = Eₜ,ₓ₀,ε [ ‖ ε − εθ( √ᾱₜ x₀ + √(1−ᾱₜ) ε , t ) ‖²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736592"/>
            <a:ext cx="1014984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F5F5F5"/>
                </a:solidFill>
                <a:latin typeface="Noto Sans CJK KR"/>
              </a:defRPr>
            </a:pP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• 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데이터 분포에서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x₀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</a:t>
            </a:r>
            <a:r>
              <a:rPr lang="ko-KR" altLang="en-US" dirty="0" err="1">
                <a:solidFill>
                  <a:srgbClr val="FFFFFF"/>
                </a:solidFill>
                <a:latin typeface="Malgun Gothic"/>
              </a:rPr>
              <a:t>샘플링한다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• 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시간 단계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t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와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Gaussian noise ε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</a:t>
            </a:r>
            <a:r>
              <a:rPr lang="ko-KR" altLang="en-US" dirty="0" err="1">
                <a:solidFill>
                  <a:srgbClr val="FFFFFF"/>
                </a:solidFill>
                <a:latin typeface="Malgun Gothic"/>
              </a:rPr>
              <a:t>샘플링한다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• xₜ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구성하고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, 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εθ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가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ε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예측하도록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MSE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로 학습한다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F1F7A9-6CF3-2143-2E5F-DAFE2D205208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Training &amp;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7_img2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8709"/>
            <a:ext cx="10744200" cy="27261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5262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B4B4B4"/>
                </a:solidFill>
                <a:latin typeface="Noto Sans CJK KR"/>
              </a:defRPr>
            </a:pPr>
            <a: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01184"/>
            <a:ext cx="48920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F5F5F5"/>
                </a:solidFill>
                <a:latin typeface="Noto Sans CJK KR"/>
              </a:defRPr>
            </a:pP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t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무작위로 선택하고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xₜ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합성한 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, noise-prediction loss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로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θ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업데이트한다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5262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B4B4B4"/>
                </a:solidFill>
                <a:latin typeface="Noto Sans CJK KR"/>
              </a:defRPr>
            </a:pPr>
            <a:r>
              <a:t>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901184"/>
            <a:ext cx="4617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F5F5F5"/>
                </a:solidFill>
                <a:latin typeface="Noto Sans CJK KR"/>
              </a:defRPr>
            </a:pPr>
            <a:r>
              <a:rPr dirty="0" err="1"/>
              <a:t>xT</a:t>
            </a:r>
            <a:r>
              <a:rPr dirty="0"/>
              <a:t> ~ N(0,I)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에서 시작하여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xₜ₋₁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을 반복적으로 샘플링하고 최종적으로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x₀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얻는다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7993BF-086B-4046-DA06-4D1FC083CA62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Model Architecture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Backbone: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Wide 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ResNet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기반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U-Net architecture</a:t>
            </a:r>
            <a:endParaRPr dirty="0"/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Timestep </a:t>
            </a:r>
            <a:r>
              <a:rPr lang="en-US" dirty="0"/>
              <a:t>t</a:t>
            </a:r>
            <a:r>
              <a:rPr lang="ko-KR" altLang="en-US" dirty="0"/>
              <a:t>는 </a:t>
            </a:r>
            <a:r>
              <a:rPr lang="en-US" dirty="0"/>
              <a:t>sinusoidal position embedding</a:t>
            </a:r>
            <a:r>
              <a:rPr lang="ko-KR" altLang="en-US" dirty="0"/>
              <a:t>으로 입력된다</a:t>
            </a:r>
            <a:r>
              <a:rPr lang="en-US" altLang="ko-KR" dirty="0"/>
              <a:t>.</a:t>
            </a:r>
            <a:endParaRPr lang="en-US" dirty="0"/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en-US" dirty="0"/>
              <a:t>16×16 feature-map resolution</a:t>
            </a:r>
            <a:r>
              <a:rPr lang="ko-KR" altLang="en-US" dirty="0"/>
              <a:t>에서 </a:t>
            </a:r>
            <a:r>
              <a:rPr lang="en-US" dirty="0"/>
              <a:t>self-attention</a:t>
            </a:r>
            <a:r>
              <a:rPr lang="ko-KR" altLang="en-US" dirty="0"/>
              <a:t>을 사용한다</a:t>
            </a:r>
            <a:r>
              <a:rPr lang="en-US" altLang="ko-KR" dirty="0"/>
              <a:t>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Noto Sans CJK KR"/>
              </a:defRPr>
            </a:pPr>
            <a:r>
              <a:rPr lang="en-US" altLang="ko-KR" dirty="0"/>
              <a:t>• </a:t>
            </a:r>
            <a:r>
              <a:rPr lang="en-US" dirty="0"/>
              <a:t>Diffusion length: T = 1000.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en-US" dirty="0">
                <a:solidFill>
                  <a:srgbClr val="FFFFFF"/>
                </a:solidFill>
                <a:latin typeface="Malgun Gothic"/>
              </a:rPr>
              <a:t>forward process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의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variance β₁,…,βT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는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10⁻⁴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에서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0.02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까지 선형적으로 증가하는 고정 상수이다</a:t>
            </a:r>
            <a:endParaRPr lang="en-US" dirty="0"/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ko-KR" altLang="en-US" dirty="0"/>
              <a:t>실험에서는 </a:t>
            </a:r>
            <a:r>
              <a:rPr lang="en-US" altLang="ko-KR" dirty="0"/>
              <a:t>reverse</a:t>
            </a:r>
            <a:r>
              <a:rPr lang="ko-KR" altLang="en-US" dirty="0"/>
              <a:t> </a:t>
            </a:r>
            <a:r>
              <a:rPr lang="en-US" altLang="ko-KR" dirty="0"/>
              <a:t>process</a:t>
            </a:r>
            <a:r>
              <a:rPr lang="ko-KR" altLang="en-US" dirty="0"/>
              <a:t>의 분산을 학습하지 않고</a:t>
            </a:r>
            <a:r>
              <a:rPr lang="en-US" altLang="ko-KR" dirty="0"/>
              <a:t>, t</a:t>
            </a:r>
            <a:r>
              <a:rPr lang="ko-KR" altLang="en-US" dirty="0"/>
              <a:t>에 따라 미리 정해진 상수로 설정한다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3327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B4B4B4"/>
                </a:solidFill>
                <a:latin typeface="Noto Sans CJK KR"/>
              </a:defRPr>
            </a:pP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Network output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은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xₜ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와 같은 차원을 가지며 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εθ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(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xₜ,t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)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나타낸다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C5AFE-30BC-CB80-7BDF-69E7DB39BEC0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9_img2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643502"/>
            <a:ext cx="6995160" cy="42293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7B7F35-B978-674C-78E6-DCB85F1106F0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CF9E7-4889-B606-FBC5-B8641E4D349D}"/>
              </a:ext>
            </a:extLst>
          </p:cNvPr>
          <p:cNvSpPr txBox="1"/>
          <p:nvPr/>
        </p:nvSpPr>
        <p:spPr>
          <a:xfrm>
            <a:off x="8229600" y="17602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B4B4B4"/>
                </a:solidFill>
                <a:latin typeface="Noto Sans CJK KR"/>
              </a:defRPr>
            </a:pPr>
            <a:r>
              <a:rPr dirty="0">
                <a:solidFill>
                  <a:srgbClr val="FFFFFF"/>
                </a:solidFill>
                <a:latin typeface="Malgun Gothic"/>
              </a:rPr>
              <a:t>CIFAR-10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A75054-C99A-01A6-4B00-CF580CF040C5}"/>
              </a:ext>
            </a:extLst>
          </p:cNvPr>
          <p:cNvSpPr txBox="1"/>
          <p:nvPr/>
        </p:nvSpPr>
        <p:spPr>
          <a:xfrm>
            <a:off x="8229600" y="2272284"/>
            <a:ext cx="2468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B4B4B4"/>
                </a:solidFill>
                <a:latin typeface="Noto Sans CJK KR"/>
              </a:defRPr>
            </a:pPr>
            <a:r>
              <a:rPr>
                <a:solidFill>
                  <a:srgbClr val="FFFFFF"/>
                </a:solidFill>
                <a:latin typeface="Malgun Gothic"/>
              </a:rPr>
              <a:t>Inception Score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021BC3-1B1B-BF7A-444B-95A544DC7503}"/>
              </a:ext>
            </a:extLst>
          </p:cNvPr>
          <p:cNvSpPr txBox="1"/>
          <p:nvPr/>
        </p:nvSpPr>
        <p:spPr>
          <a:xfrm>
            <a:off x="8229600" y="2583180"/>
            <a:ext cx="2286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5F5F5"/>
                </a:solidFill>
                <a:latin typeface="Noto Sans CJK KR"/>
              </a:defRPr>
            </a:pPr>
            <a:r>
              <a:rPr>
                <a:solidFill>
                  <a:srgbClr val="FFFFFF"/>
                </a:solidFill>
                <a:latin typeface="Malgun Gothic"/>
              </a:rPr>
              <a:t>9.46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90406C-617E-CDD5-2CD9-50192370DDF8}"/>
              </a:ext>
            </a:extLst>
          </p:cNvPr>
          <p:cNvSpPr txBox="1"/>
          <p:nvPr/>
        </p:nvSpPr>
        <p:spPr>
          <a:xfrm>
            <a:off x="8229600" y="3342132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B4B4B4"/>
                </a:solidFill>
                <a:latin typeface="Noto Sans CJK KR"/>
              </a:defRPr>
            </a:pPr>
            <a:r>
              <a:rPr>
                <a:solidFill>
                  <a:srgbClr val="FFFFFF"/>
                </a:solidFill>
                <a:latin typeface="Malgun Gothic"/>
              </a:rPr>
              <a:t>FID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05C762-78C4-039B-63ED-E6D8419A2725}"/>
              </a:ext>
            </a:extLst>
          </p:cNvPr>
          <p:cNvSpPr txBox="1"/>
          <p:nvPr/>
        </p:nvSpPr>
        <p:spPr>
          <a:xfrm>
            <a:off x="8229600" y="3653028"/>
            <a:ext cx="2286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5F5F5"/>
                </a:solidFill>
                <a:latin typeface="Noto Sans CJK KR"/>
              </a:defRPr>
            </a:pPr>
            <a:r>
              <a:rPr>
                <a:solidFill>
                  <a:srgbClr val="FFFFFF"/>
                </a:solidFill>
                <a:latin typeface="Malgun Gothic"/>
              </a:rPr>
              <a:t>3.17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D4A9A-040F-43BE-0779-EB305769369E}"/>
              </a:ext>
            </a:extLst>
          </p:cNvPr>
          <p:cNvSpPr txBox="1"/>
          <p:nvPr/>
        </p:nvSpPr>
        <p:spPr>
          <a:xfrm>
            <a:off x="8229600" y="453085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B4B4B4"/>
                </a:solidFill>
                <a:latin typeface="Noto Sans CJK KR"/>
              </a:defRPr>
            </a:pPr>
            <a:r>
              <a:rPr>
                <a:solidFill>
                  <a:srgbClr val="FFFFFF"/>
                </a:solidFill>
                <a:latin typeface="Malgun Gothic"/>
              </a:rPr>
              <a:t>LSUN 256×256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CD2078-1475-B489-5F35-1547E6B4E1AB}"/>
              </a:ext>
            </a:extLst>
          </p:cNvPr>
          <p:cNvSpPr txBox="1"/>
          <p:nvPr/>
        </p:nvSpPr>
        <p:spPr>
          <a:xfrm>
            <a:off x="8229599" y="4942332"/>
            <a:ext cx="3423557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5F5F5"/>
                </a:solidFill>
                <a:latin typeface="Noto Sans CJK KR"/>
              </a:defRPr>
            </a:pPr>
            <a:r>
              <a:rPr dirty="0" err="1">
                <a:solidFill>
                  <a:srgbClr val="FFFFFF"/>
                </a:solidFill>
                <a:latin typeface="Malgun Gothic"/>
              </a:rPr>
              <a:t>ProgressiveGAN과</a:t>
            </a:r>
            <a:r>
              <a:rPr dirty="0">
                <a:solidFill>
                  <a:srgbClr val="FFFFFF"/>
                </a:solidFill>
                <a:latin typeface="Malgun Gothic"/>
              </a:rPr>
              <a:t> </a:t>
            </a:r>
            <a:r>
              <a:rPr dirty="0" err="1">
                <a:solidFill>
                  <a:srgbClr val="FFFFFF"/>
                </a:solidFill>
                <a:latin typeface="Malgun Gothic"/>
              </a:rPr>
              <a:t>비교</a:t>
            </a:r>
            <a:r>
              <a:rPr dirty="0">
                <a:solidFill>
                  <a:srgbClr val="FFFFFF"/>
                </a:solidFill>
                <a:latin typeface="Malgun Gothic"/>
              </a:rPr>
              <a:t> </a:t>
            </a:r>
            <a:r>
              <a:rPr dirty="0" err="1">
                <a:solidFill>
                  <a:srgbClr val="FFFFFF"/>
                </a:solidFill>
                <a:latin typeface="Malgun Gothic"/>
              </a:rPr>
              <a:t>가능한</a:t>
            </a:r>
            <a:r>
              <a:rPr dirty="0">
                <a:solidFill>
                  <a:srgbClr val="FFFFFF"/>
                </a:solidFill>
                <a:latin typeface="Malgun Gothic"/>
              </a:rPr>
              <a:t> sample </a:t>
            </a:r>
            <a:r>
              <a:rPr dirty="0" err="1">
                <a:solidFill>
                  <a:srgbClr val="FFFFFF"/>
                </a:solidFill>
                <a:latin typeface="Malgun Gothic"/>
              </a:rPr>
              <a:t>quality를</a:t>
            </a:r>
            <a:r>
              <a:rPr dirty="0">
                <a:solidFill>
                  <a:srgbClr val="FFFFFF"/>
                </a:solidFill>
                <a:latin typeface="Malgun Gothic"/>
              </a:rPr>
              <a:t> </a:t>
            </a:r>
            <a:r>
              <a:rPr dirty="0" err="1">
                <a:solidFill>
                  <a:srgbClr val="FFFFFF"/>
                </a:solidFill>
                <a:latin typeface="Malgun Gothic"/>
              </a:rPr>
              <a:t>보였다</a:t>
            </a:r>
            <a:r>
              <a:rPr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4015971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Conclusion</a:t>
            </a:r>
            <a:r>
              <a:rPr lang="en-US" dirty="0"/>
              <a:t> &amp; Summary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103784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en-US" altLang="ko-KR" dirty="0"/>
              <a:t>DDPM</a:t>
            </a:r>
            <a:r>
              <a:rPr lang="ko-KR" altLang="en-US" dirty="0"/>
              <a:t>은 점진적인 </a:t>
            </a:r>
            <a:r>
              <a:rPr lang="en-US" altLang="ko-KR" dirty="0"/>
              <a:t>Gaussian </a:t>
            </a:r>
            <a:r>
              <a:rPr lang="en-US" altLang="ko-KR" dirty="0" err="1"/>
              <a:t>diffusio</a:t>
            </a:r>
            <a:r>
              <a:rPr lang="ko-KR" altLang="en-US" dirty="0"/>
              <a:t>의 </a:t>
            </a:r>
            <a:r>
              <a:rPr lang="en-US" altLang="ko-KR" dirty="0"/>
              <a:t>forward </a:t>
            </a:r>
            <a:r>
              <a:rPr lang="ko-KR" altLang="en-US" dirty="0"/>
              <a:t>과정과 </a:t>
            </a:r>
            <a:r>
              <a:rPr lang="en-US" altLang="ko-KR" dirty="0"/>
              <a:t>reverse</a:t>
            </a:r>
            <a:r>
              <a:rPr lang="ko-KR" altLang="en-US" dirty="0"/>
              <a:t>의 이미지 생성 과정으로 나뉜다</a:t>
            </a:r>
            <a:r>
              <a:rPr lang="en-US" altLang="ko-KR" dirty="0"/>
              <a:t>.</a:t>
            </a:r>
            <a:endParaRPr lang="en-US" dirty="0"/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ko-KR" altLang="en-US" dirty="0"/>
              <a:t>간단한 </a:t>
            </a:r>
            <a:r>
              <a:rPr lang="en-US" dirty="0"/>
              <a:t>noise prediction objective</a:t>
            </a:r>
            <a:r>
              <a:rPr lang="ko-KR" altLang="en-US" dirty="0"/>
              <a:t>만으로도 </a:t>
            </a:r>
            <a:r>
              <a:rPr lang="en-US" dirty="0"/>
              <a:t>reverse process</a:t>
            </a:r>
            <a:r>
              <a:rPr lang="ko-KR" altLang="en-US" dirty="0"/>
              <a:t>를 효과적으로 학습할 수 있다</a:t>
            </a:r>
            <a:r>
              <a:rPr lang="en-US" altLang="ko-KR" dirty="0"/>
              <a:t>.</a:t>
            </a:r>
            <a:endParaRPr lang="en-US" dirty="0"/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en-US" altLang="ko-KR" dirty="0"/>
              <a:t>Adversarial training </a:t>
            </a:r>
            <a:r>
              <a:rPr lang="ko-KR" altLang="en-US" dirty="0"/>
              <a:t>없이도 고품질의 이미지를 생성할 수 있다</a:t>
            </a:r>
            <a:r>
              <a:rPr lang="en-US" altLang="ko-KR" dirty="0"/>
              <a:t>.</a:t>
            </a:r>
            <a:endParaRPr dirty="0"/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en-US" altLang="ko-KR" dirty="0"/>
              <a:t>Sampling </a:t>
            </a:r>
            <a:r>
              <a:rPr lang="ko-KR" altLang="en-US" dirty="0"/>
              <a:t>과정에서는 많은 </a:t>
            </a:r>
            <a:r>
              <a:rPr lang="en-US" altLang="ko-KR" dirty="0"/>
              <a:t>timestep</a:t>
            </a:r>
            <a:r>
              <a:rPr lang="ko-KR" altLang="en-US" dirty="0"/>
              <a:t>에 걸쳐 </a:t>
            </a:r>
            <a:r>
              <a:rPr lang="en-US" altLang="ko-KR" dirty="0"/>
              <a:t>reverse Markov chain</a:t>
            </a:r>
            <a:r>
              <a:rPr lang="ko-KR" altLang="en-US" dirty="0"/>
              <a:t>을 수행해야 하므로</a:t>
            </a:r>
            <a:r>
              <a:rPr lang="en-US" altLang="ko-KR" dirty="0"/>
              <a:t>, </a:t>
            </a:r>
            <a:r>
              <a:rPr lang="ko-KR" altLang="en-US" dirty="0"/>
              <a:t>한 번의 </a:t>
            </a:r>
            <a:r>
              <a:rPr lang="en-US" altLang="ko-KR" dirty="0"/>
              <a:t>forward pass</a:t>
            </a:r>
            <a:r>
              <a:rPr lang="ko-KR" altLang="en-US" dirty="0"/>
              <a:t>로 생성하는 모델에 비해 계산 비용이 크다</a:t>
            </a:r>
            <a:r>
              <a:rPr lang="en-US" altLang="ko-KR" dirty="0"/>
              <a:t>.</a:t>
            </a:r>
            <a:endParaRPr lang="en-US" dirty="0"/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ko-KR" altLang="en-US" dirty="0"/>
              <a:t>논문은 </a:t>
            </a:r>
            <a:r>
              <a:rPr lang="en-US" dirty="0"/>
              <a:t>diffusion model</a:t>
            </a:r>
            <a:r>
              <a:rPr lang="ko-KR" altLang="en-US" dirty="0"/>
              <a:t>과 </a:t>
            </a:r>
            <a:r>
              <a:rPr lang="en-US" dirty="0"/>
              <a:t>denoising score matching</a:t>
            </a:r>
            <a:r>
              <a:rPr lang="ko-KR" altLang="en-US" dirty="0"/>
              <a:t>의 관계를 제시하고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dirty="0"/>
              <a:t>progressive lossy decompression</a:t>
            </a:r>
            <a:r>
              <a:rPr lang="ko-KR" altLang="en-US" dirty="0"/>
              <a:t>의 관점에서도 해석한다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96CB2-5F68-3709-0513-A731EBBD9340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1052</Words>
  <Application>Microsoft Office PowerPoint</Application>
  <PresentationFormat>와이드스크린</PresentationFormat>
  <Paragraphs>115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Noto Sans CJK KR</vt:lpstr>
      <vt:lpstr>Malgun Gothic</vt:lpstr>
      <vt:lpstr>Malgun Gothic</vt:lpstr>
      <vt:lpstr>Arial</vt:lpstr>
      <vt:lpstr>Calibri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ParkHyuna</cp:lastModifiedBy>
  <cp:revision>18</cp:revision>
  <dcterms:created xsi:type="dcterms:W3CDTF">2013-01-27T09:14:16Z</dcterms:created>
  <dcterms:modified xsi:type="dcterms:W3CDTF">2026-10-04T11:56:59Z</dcterms:modified>
  <cp:category/>
</cp:coreProperties>
</file>